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9BC4908-F514-4CCB-8A07-29ADF1E809C0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1374840" y="1336680"/>
            <a:ext cx="4809600" cy="3607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C19821-266A-46D4-A7B4-1AD08D6985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ftr" idx="5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Name of the faculty [Group: G00] [Sem:2nd]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1374840" y="1336680"/>
            <a:ext cx="4809600" cy="3607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ftr" idx="6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Name of the faculty [Group: G00] [Sem:2nd]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sldNum" idx="7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00E9CD-1488-4724-AA65-66EE8EF3054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<Relationship Id="rId9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20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1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2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3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4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5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26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7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8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9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30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1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2845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2845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9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41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42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3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44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45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46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47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48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9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50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51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52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88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88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88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88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9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66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67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68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69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0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71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72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73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74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75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6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77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2497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2497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2497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2497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2497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2497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9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88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89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90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91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92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3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94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95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96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97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98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9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9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07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08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09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10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11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12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13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14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5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16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17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18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9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26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27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28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29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0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31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32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33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34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35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6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37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769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769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9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47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48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49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50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51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52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53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54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55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56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57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58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9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64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65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66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67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68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69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70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71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72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73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74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75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9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8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179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80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81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82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83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84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185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186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87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188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89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90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88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769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88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9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1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202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03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04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05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06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07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208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09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10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11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12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13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769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88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88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9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Picture 10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pic>
        <p:nvPicPr>
          <p:cNvPr id="225" name="Picture 10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26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27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28" name="Picture 9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29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30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pic>
        <p:nvPicPr>
          <p:cNvPr id="231" name="Picture 10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9360">
            <a:noFill/>
          </a:ln>
        </p:spPr>
      </p:pic>
      <p:grpSp>
        <p:nvGrpSpPr>
          <p:cNvPr id="232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33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34" name="Picture 9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235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36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9360">
            <a:noFill/>
          </a:ln>
        </p:spPr>
      </p:pic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88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88" lnSpcReduction="2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2845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Shape 1"/>
          <p:cNvSpPr/>
          <p:nvPr/>
        </p:nvSpPr>
        <p:spPr>
          <a:xfrm>
            <a:off x="0" y="840600"/>
            <a:ext cx="9143640" cy="53769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Calibri"/>
              </a:rPr>
              <a:t>Project Presentation of </a:t>
            </a:r>
            <a:r>
              <a:rPr b="1" lang="en-US" sz="1800" spc="-1" strike="noStrike">
                <a:solidFill>
                  <a:schemeClr val="dk1"/>
                </a:solidFill>
                <a:latin typeface="Times New Roman"/>
                <a:ea typeface="Calibri"/>
              </a:rPr>
              <a:t>CO-OP Project at Industry (Module-2) </a:t>
            </a: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Calibri"/>
              </a:rPr>
              <a:t>(22CS421)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  <a:ea typeface="Calibri"/>
              </a:rPr>
              <a:t>On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Times New Roman"/>
                <a:ea typeface="DejaVu Sans"/>
              </a:rPr>
              <a:t>Integrative Analysis and Detection of Sugarcane Leaf Diseases Using Advanced Machine Learning and Image Processing Techniques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MS PGothic"/>
              </a:rPr>
              <a:t>Himanshi (2210991656)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MS PGothic"/>
              </a:rPr>
              <a:t>Vanshika Garg (2210992507)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MS PGothic"/>
              </a:rPr>
              <a:t>Yash Goyal (2210992555)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MS PGothic"/>
              </a:rPr>
              <a:t>Shreyas Sharma (2210992346)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MS PGothic"/>
              </a:rPr>
              <a:t>Supervised By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Dr. Monika Aggarwal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MS PGothic"/>
              </a:rPr>
              <a:t>Department of Computer Science and Engineering,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MS PGothic"/>
              </a:rPr>
              <a:t>Chitkara University, Punjab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  <a:spcBef>
                <a:spcPts val="400"/>
              </a:spcBef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Outline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subTitle"/>
          </p:nvPr>
        </p:nvSpPr>
        <p:spPr>
          <a:xfrm>
            <a:off x="457200" y="1188000"/>
            <a:ext cx="6031800" cy="448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Introduction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Problem Identification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Literature Review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Algorithms Discussed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Proposed Methodology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Results and Discussion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Conclusion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References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Shape 1"/>
          <p:cNvSpPr/>
          <p:nvPr/>
        </p:nvSpPr>
        <p:spPr>
          <a:xfrm>
            <a:off x="-1565640" y="-16560"/>
            <a:ext cx="6019200" cy="8373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Introduction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Shape 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0197DC05-689A-4882-A307-EEB0BE7AA293}" type="slidenum">
              <a:rPr b="1" lang="en-US" sz="1200" spc="-1" strike="noStrike">
                <a:solidFill>
                  <a:srgbClr val="000000"/>
                </a:solidFill>
                <a:latin typeface="Calibri"/>
                <a:ea typeface="MS PGothic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ectangle 5"/>
          <p:cNvSpPr/>
          <p:nvPr/>
        </p:nvSpPr>
        <p:spPr>
          <a:xfrm>
            <a:off x="255600" y="987480"/>
            <a:ext cx="8767440" cy="47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Sugarcane is a major agricultural crop essential for sugar production and bio-energy.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Leaf diseases such as </a:t>
            </a:r>
            <a:r>
              <a:rPr b="1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Rust, Smut, Leaf Blight, Mosaic, Red Rot, and Yellow Disease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significantly affect productivity.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Traditional disease detection methods are manual, slow, and subjective.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Machine Learning and Image Processing provide automated, efficient, and scalable disease diagnosis.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This study proposes an advanced CNN-based framework for accurate sugarcane disease detection.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373680" y="167040"/>
            <a:ext cx="6007320" cy="5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Problem Identification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8" name="Rectangle 1"/>
          <p:cNvSpPr/>
          <p:nvPr/>
        </p:nvSpPr>
        <p:spPr>
          <a:xfrm>
            <a:off x="250560" y="869760"/>
            <a:ext cx="8642160" cy="51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Traditional diagnosis depends on physical observation by experts.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Large-scale farms require faster automated monitoring systems.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Similar symptoms across diseases cause classification challenges.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Environmental variations affect visual diagnosis accuracy.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Need for: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Early detection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Higher  precision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Low-cost implementation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Scalable agricultural solutions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20160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Literature Review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0" name="Rectangle 1"/>
          <p:cNvSpPr/>
          <p:nvPr/>
        </p:nvSpPr>
        <p:spPr>
          <a:xfrm>
            <a:off x="360000" y="1440000"/>
            <a:ext cx="8280000" cy="47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Previous Research Highlights: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CNN + SVM Ensemble Models improved classification accuracy.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Adaptive CNN Models enhanced feature extraction.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Faster R-CNN Android Applications enabled real-time disease    detection.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SURF-based Detection focused on early symptom recognition.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Research Gap: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Limited integration of RGB + Spectral Imaging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High computational complexity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Generalization issues in varying environments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304920" y="-7848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Literature Review (Contd.)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262" name="Table 3"/>
          <p:cNvGraphicFramePr/>
          <p:nvPr/>
        </p:nvGraphicFramePr>
        <p:xfrm>
          <a:off x="692640" y="1305720"/>
          <a:ext cx="7727760" cy="3774600"/>
        </p:xfrm>
        <a:graphic>
          <a:graphicData uri="http://schemas.openxmlformats.org/drawingml/2006/table">
            <a:tbl>
              <a:tblPr/>
              <a:tblGrid>
                <a:gridCol w="2575800"/>
                <a:gridCol w="2644560"/>
                <a:gridCol w="2507040"/>
              </a:tblGrid>
              <a:tr h="754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2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  <a:ea typeface="DejaVu Sans"/>
                        </a:rPr>
                        <a:t>Author</a:t>
                      </a:r>
                      <a:endParaRPr b="0" lang="en-IN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IN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Method</a:t>
                      </a:r>
                      <a:endParaRPr b="0" lang="en-IN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IN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Arial"/>
                          <a:ea typeface="DejaVu Sans"/>
                        </a:rPr>
                        <a:t>Limitation</a:t>
                      </a:r>
                      <a:endParaRPr b="0" lang="en-IN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54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U. Vignesh et al.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CNN + SVM Ensemble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Computationally expensive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54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Militante et al.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Adaptive CNN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Difficulty with unseen diseases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754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Murugeswari</a:t>
                      </a: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 et al.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Faster R-CNN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Mobile efficiency challenges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54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Rahmat et al.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SURF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  <a:ea typeface="DejaVu Sans"/>
                        </a:rPr>
                        <a:t>Limited disease generalization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24588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Algorithms Discussed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4" name="TextBox 5"/>
          <p:cNvSpPr/>
          <p:nvPr/>
        </p:nvSpPr>
        <p:spPr>
          <a:xfrm>
            <a:off x="560520" y="1116000"/>
            <a:ext cx="7521480" cy="51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Algorithm 1: Convolutional Neural Networks (CNN)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Feature extraction through convolution layers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Pooling for dimensionality reduction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Fully connected layers for classification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Algorithm 2: Data Augmentation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Rotation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Flipping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Scaling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Improves dataset diversity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Algorithm 3: Feature Extraction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Histogram of Oriented Gradients (HOG)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Color Histograms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Disease symptom pattern analysis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19656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Proposed Methodology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6" name="TextBox 4"/>
          <p:cNvSpPr/>
          <p:nvPr/>
        </p:nvSpPr>
        <p:spPr>
          <a:xfrm>
            <a:off x="196560" y="1325880"/>
            <a:ext cx="858312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System Workflow: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Dataset Collection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Image Preprocessing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Data Augmentation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Feature Extraction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CNN Training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Spectral + RGB Integration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Classification Output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Objective: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To build a robust and affordable disease detection system for precision agriculture.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20160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Proposed System Design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8" name="TextBox 4"/>
          <p:cNvSpPr/>
          <p:nvPr/>
        </p:nvSpPr>
        <p:spPr>
          <a:xfrm>
            <a:off x="373680" y="1582920"/>
            <a:ext cx="8769960" cy="31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Framework Components: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Sugarcane Leaf Image Dataset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Image Resizing and Normalization 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CNN Feature Extraction 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Handcrafted Feature Fusion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Spectral Imaging Enhancement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Classification into Disease Categories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Performance Evaluation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26532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Results and Performance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0" name="TextBox 6"/>
          <p:cNvSpPr/>
          <p:nvPr/>
        </p:nvSpPr>
        <p:spPr>
          <a:xfrm>
            <a:off x="639000" y="1455120"/>
            <a:ext cx="766872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Training Metrics: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Training Accuracy: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99.90%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Training Loss: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0.2592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Validation Metrics: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Validation Accuracy: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93.27%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Validation Loss: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0.4949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Observation: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High model precision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Strong generalization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Minimal overfitting due to dropout + augmentation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32436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Classification Results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2" name="TextBox 4"/>
          <p:cNvSpPr/>
          <p:nvPr/>
        </p:nvSpPr>
        <p:spPr>
          <a:xfrm>
            <a:off x="471960" y="1406160"/>
            <a:ext cx="7246080" cy="34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Disease-wise Performance: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Healthy Leaves: Precision 95%, Recall 97%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Mosaic Disease: Precision 90%, Recall 98%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Red Rot: Precision 95%, Recall 89%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Rust: Precision 96%, Recall 92%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Yellow Disease: Precision 94%, Recall 97%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Key Insight: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Model performs strongly across classes with room for Red Rot optimization.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24588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Discussion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4" name="TextBox 4"/>
          <p:cNvSpPr/>
          <p:nvPr/>
        </p:nvSpPr>
        <p:spPr>
          <a:xfrm>
            <a:off x="471960" y="1455120"/>
            <a:ext cx="6373440" cy="34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Strengths: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Multi-branch CNN architecture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Spectral + RGB integration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High precision and recall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Cost-effective agricultural application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Challenges: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Red Rot classification slightly weaker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Requires larger, diverse datasets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Future integration with mobile systems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8684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Conclusion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6" name="TextBox 4"/>
          <p:cNvSpPr/>
          <p:nvPr/>
        </p:nvSpPr>
        <p:spPr>
          <a:xfrm>
            <a:off x="324360" y="1480680"/>
            <a:ext cx="756072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CNN + Feature Extraction significantly improves sugarcane disease diagnosis.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Validation accuracy of </a:t>
            </a: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93.27%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demonstrates practical viability.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Supports precision agriculture and crop sustainability.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Enables: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Early diagnosis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Reduced crop loss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Increased farmer profitability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Future Scope: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Mobile deployment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Real-time field detection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IoT integration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20664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3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References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8" name="Rectangle 2"/>
          <p:cNvSpPr/>
          <p:nvPr/>
        </p:nvSpPr>
        <p:spPr>
          <a:xfrm>
            <a:off x="68760" y="1332360"/>
            <a:ext cx="928116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E. K. Ratnasari et al., Sugarcane Leaf Disease Detection, ICTS 2014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Militante et al., Sugarcane Disease Recognition using Deep Learning, 2019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U. Vignesh et al., CNN-SVM Weighted Ensemble Learning, 2023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K. Rajput et al., CNN-SVM Fusion, 2024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  <a:ea typeface="DejaVu Sans"/>
              </a:rPr>
              <a:t>Murugeswari et al., Faster R-CNN Android Detection, 2022 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1"/>
          <p:cNvSpPr/>
          <p:nvPr/>
        </p:nvSpPr>
        <p:spPr>
          <a:xfrm>
            <a:off x="1297440" y="2821680"/>
            <a:ext cx="6705360" cy="14104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" sz="5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Thank You</a:t>
            </a:r>
            <a:endParaRPr b="0" lang="en-IN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Shape 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8CC3F7EF-31B3-467F-9207-A55C03D5F15B}" type="slidenum">
              <a:rPr b="1" lang="en-US" sz="1200" spc="-1" strike="noStrike">
                <a:solidFill>
                  <a:srgbClr val="000000"/>
                </a:solidFill>
                <a:latin typeface="Calibri"/>
                <a:ea typeface="MS PGothic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34768</TotalTime>
  <Application>LibreOffice/24.2.7.2$Linux_X86_64 LibreOffice_project/420$Build-2</Application>
  <AppVersion>15.0000</AppVersion>
  <Words>708</Words>
  <Paragraphs>181</Paragraphs>
  <Company>CCC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  <dc:description/>
  <dc:language>en-GB</dc:language>
  <cp:lastModifiedBy/>
  <dcterms:modified xsi:type="dcterms:W3CDTF">2026-04-29T11:09:39Z</dcterms:modified>
  <cp:revision>2304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0x010100096F1BF43DDE004485E7A868D137D60A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15</vt:i4>
  </property>
</Properties>
</file>